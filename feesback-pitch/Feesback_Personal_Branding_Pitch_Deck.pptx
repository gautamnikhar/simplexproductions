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65760" y="36576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85800" y="36576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36576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36576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36576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65760" y="68580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68580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05840" y="68580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25880" y="68580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645920" y="68580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" y="100584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85800" y="100584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100584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25880" y="100584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645920" y="100584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" y="132588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132588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132588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25880" y="132588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645920" y="132588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5760" y="164592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5800" y="164592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164592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64592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45920" y="1645920"/>
            <a:ext cx="63500" cy="635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1828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2C5F8A"/>
                </a:solidFill>
                <a:latin typeface="Montserrat"/>
              </a:defRPr>
            </a:pPr>
            <a:r>
              <a:t>PERSONAL BRANDING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2286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04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1B3A5C"/>
                </a:solidFill>
                <a:latin typeface="Montserrat"/>
              </a:defRPr>
            </a:pPr>
            <a:r>
              <a:t>PROPOSAL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108960"/>
            <a:ext cx="13716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33832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B6B6B"/>
                </a:solidFill>
                <a:latin typeface="Montserrat"/>
              </a:defRPr>
            </a:pPr>
            <a:r>
              <a:t>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749039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SHILEN ARROW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2C5F8A"/>
                </a:solidFill>
                <a:latin typeface="Montserrat"/>
              </a:defRPr>
            </a:pPr>
            <a:r>
              <a:t>Founder — Feesback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5E6D0"/>
                </a:solidFill>
                <a:latin typeface="Montserrat"/>
              </a:defRPr>
            </a:pPr>
            <a:r>
              <a:t>FEESBACK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1920240"/>
            <a:ext cx="91440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2286000"/>
            <a:ext cx="1097280" cy="32004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2926080"/>
            <a:ext cx="1371600" cy="2560320"/>
          </a:xfrm>
          <a:prstGeom prst="rect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20" y="2560320"/>
            <a:ext cx="914400" cy="2926080"/>
          </a:xfrm>
          <a:prstGeom prst="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0" y="246888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246888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583680" y="301752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40880" y="301752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0" y="356616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356616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0" y="411480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040880" y="411480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583680" y="466344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040880" y="4663440"/>
            <a:ext cx="22860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46720" y="310896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0" y="310896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46720" y="365760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503920" y="365760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046720" y="420624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503920" y="4206240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046720" y="4754879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503920" y="4754879"/>
            <a:ext cx="2286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01200" y="2743200"/>
            <a:ext cx="1828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601200" y="3383280"/>
            <a:ext cx="1828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601200" y="4023360"/>
            <a:ext cx="1828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01200" y="4663440"/>
            <a:ext cx="182880" cy="320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943600" y="3200400"/>
            <a:ext cx="274320" cy="27432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17920" y="4389120"/>
            <a:ext cx="274320" cy="27432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5486400" y="3840480"/>
            <a:ext cx="274320" cy="27432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3A5C"/>
                </a:solidFill>
                <a:latin typeface="Montserrat"/>
              </a:defRPr>
            </a:pPr>
            <a:r>
              <a:t>Elevating Real Estate Leadership Through Strategic Personal Branding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WHO WE 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Your Strategic Branding Partner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943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A1A1A"/>
                </a:solidFill>
                <a:latin typeface="Montserrat"/>
              </a:defRPr>
            </a:pPr>
            <a:r>
              <a:t>We are a boutique personal branding agency specializing in building powerful, authentic brands for founders and executives in the tech and real estate space.</a:t>
            </a:r>
            <a:br/>
            <a:br/>
            <a:r>
              <a:t>Our mission is to transform Shilen Arrow's expertise and vision into a magnetic personal brand that attracts top agents, buyers, and industry partnerships to Feesback.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011680"/>
            <a:ext cx="4389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79" y="214884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Strategic Positioning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Montserrat"/>
              </a:defRPr>
            </a:pPr>
            <a:r>
              <a:t>Defining your unique narrative in prop-tech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3063240"/>
            <a:ext cx="4389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79" y="320040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246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54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Content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520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Montserrat"/>
              </a:defRPr>
            </a:pPr>
            <a:r>
              <a:t>LinkedIn, video, thought leadership pillars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114800"/>
            <a:ext cx="4389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98079" y="4251960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79" y="4297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Visual Identity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Montserrat"/>
              </a:defRPr>
            </a:pPr>
            <a:r>
              <a:t>Cohesive brand aesthetics across platforms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5166359"/>
            <a:ext cx="4389120" cy="914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98079" y="5303519"/>
            <a:ext cx="548640" cy="54864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79" y="53492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25779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Community Building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6235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B6B6B"/>
                </a:solidFill>
                <a:latin typeface="Montserrat"/>
              </a:defRPr>
            </a:pPr>
            <a:r>
              <a:t>Engaged audience of agents &amp; buyers</a:t>
            </a:r>
          </a:p>
        </p:txBody>
      </p:sp>
      <p:sp>
        <p:nvSpPr>
          <p:cNvPr id="28" name="Oval 27"/>
          <p:cNvSpPr/>
          <p:nvPr/>
        </p:nvSpPr>
        <p:spPr>
          <a:xfrm>
            <a:off x="45720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3152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0584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28016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55448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82880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10312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377440" y="54864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5720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3152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0584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8016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55448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10312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377440" y="57607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5720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3152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0584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8016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55448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82880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10312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77440" y="60350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2"/>
                </a:solidFill>
                <a:latin typeface="Montserrat"/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Montserrat"/>
              </a:defRPr>
            </a:pPr>
            <a:r>
              <a:t>Why Personal Branding Matters for Shilen Arrow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9A962"/>
                </a:solidFill>
                <a:latin typeface="Montserrat"/>
              </a:defRPr>
            </a:pPr>
            <a: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08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3EB"/>
                </a:solidFill>
                <a:latin typeface="Montserrat"/>
              </a:defRPr>
            </a:pPr>
            <a:r>
              <a:t>of consumers trust</a:t>
            </a:r>
            <a:br/>
            <a:r>
              <a:t>a company more when</a:t>
            </a:r>
            <a:br/>
            <a:r>
              <a:t>its founder is active</a:t>
            </a:r>
            <a:br/>
            <a:r>
              <a:t>on social media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103120"/>
            <a:ext cx="25603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9A962"/>
                </a:solidFill>
                <a:latin typeface="Montserrat"/>
              </a:defRPr>
            </a:pPr>
            <a:r>
              <a:t>77%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108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3EB"/>
                </a:solidFill>
                <a:latin typeface="Montserrat"/>
              </a:defRPr>
            </a:pPr>
            <a:r>
              <a:t>of buyers research</a:t>
            </a:r>
            <a:br/>
            <a:r>
              <a:t>the company founder</a:t>
            </a:r>
            <a:br/>
            <a:r>
              <a:t>before making a</a:t>
            </a:r>
            <a:br/>
            <a:r>
              <a:t>purchase decision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03120"/>
            <a:ext cx="25603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9A962"/>
                </a:solidFill>
                <a:latin typeface="Montserrat"/>
              </a:defRPr>
            </a:pPr>
            <a:r>
              <a:t>3.5×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108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3EB"/>
                </a:solidFill>
                <a:latin typeface="Montserrat"/>
              </a:defRPr>
            </a:pPr>
            <a:r>
              <a:t>more engagement</a:t>
            </a:r>
            <a:br/>
            <a:r>
              <a:t>when content comes</a:t>
            </a:r>
            <a:br/>
            <a:r>
              <a:t>from a personal</a:t>
            </a:r>
            <a:br/>
            <a:r>
              <a:t>brand vs company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103120"/>
            <a:ext cx="2560320" cy="22860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8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C9A962"/>
                </a:solidFill>
                <a:latin typeface="Montserrat"/>
              </a:defRPr>
            </a:pPr>
            <a:r>
              <a:t>64%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108960"/>
            <a:ext cx="2011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AF3EB"/>
                </a:solidFill>
                <a:latin typeface="Montserrat"/>
              </a:defRPr>
            </a:pPr>
            <a:r>
              <a:t>of real estate leads</a:t>
            </a:r>
            <a:br/>
            <a:r>
              <a:t>come from referrals</a:t>
            </a:r>
            <a:br/>
            <a:r>
              <a:t>driven by personal</a:t>
            </a:r>
            <a:br/>
            <a:r>
              <a:t>reputation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846320"/>
            <a:ext cx="10698480" cy="1371600"/>
          </a:xfrm>
          <a:prstGeom prst="round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THE INSIGHT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94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1B3A5C"/>
                </a:solidFill>
                <a:latin typeface="Montserrat"/>
              </a:defRPr>
            </a:pPr>
            <a:r>
              <a:t>Feesback connects real estate agents with customers — but trust starts with WHO is behind the platform. Shilen Arrow's personal brand becomes the trust signal that drives platform adoption by agents and buyers alike.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SCOPE OF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What We'll Build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3474720" cy="5029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2084831"/>
            <a:ext cx="365760" cy="36576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084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BRAND FOUNDATION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78892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61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Brand audit &amp; competitor analysis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42900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01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Personal brand positioning statement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6908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Tone of voice &amp; messaging guide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70916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6817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Bio &amp; headline optimization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34924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218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Visual brand direction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80559" y="2011680"/>
            <a:ext cx="3474720" cy="50292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17719" y="2084831"/>
            <a:ext cx="365760" cy="36576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19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39" y="2084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CONTENT STRATEGY</a:t>
            </a:r>
          </a:p>
        </p:txBody>
      </p:sp>
      <p:sp>
        <p:nvSpPr>
          <p:cNvPr id="32" name="Oval 31"/>
          <p:cNvSpPr/>
          <p:nvPr/>
        </p:nvSpPr>
        <p:spPr>
          <a:xfrm>
            <a:off x="4663439" y="278892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63439" y="2761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199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Content pillar development</a:t>
            </a:r>
          </a:p>
        </p:txBody>
      </p:sp>
      <p:sp>
        <p:nvSpPr>
          <p:cNvPr id="35" name="Oval 34"/>
          <p:cNvSpPr/>
          <p:nvPr/>
        </p:nvSpPr>
        <p:spPr>
          <a:xfrm>
            <a:off x="4663439" y="342900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63439" y="3401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199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Monthly content calendar</a:t>
            </a:r>
          </a:p>
        </p:txBody>
      </p:sp>
      <p:sp>
        <p:nvSpPr>
          <p:cNvPr id="38" name="Oval 37"/>
          <p:cNvSpPr/>
          <p:nvPr/>
        </p:nvSpPr>
        <p:spPr>
          <a:xfrm>
            <a:off x="4663439" y="406908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63439" y="4041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199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LinkedIn optimization &amp; strategy</a:t>
            </a:r>
          </a:p>
        </p:txBody>
      </p:sp>
      <p:sp>
        <p:nvSpPr>
          <p:cNvPr id="41" name="Oval 40"/>
          <p:cNvSpPr/>
          <p:nvPr/>
        </p:nvSpPr>
        <p:spPr>
          <a:xfrm>
            <a:off x="4663439" y="470916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39" y="46817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199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Thought leadership articles</a:t>
            </a:r>
          </a:p>
        </p:txBody>
      </p:sp>
      <p:sp>
        <p:nvSpPr>
          <p:cNvPr id="44" name="Oval 43"/>
          <p:cNvSpPr/>
          <p:nvPr/>
        </p:nvSpPr>
        <p:spPr>
          <a:xfrm>
            <a:off x="4663439" y="534924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39" y="53218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199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Video content direction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0" y="2011680"/>
            <a:ext cx="347472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2011680"/>
            <a:ext cx="3474720" cy="502920"/>
          </a:xfrm>
          <a:prstGeom prst="rect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366760" y="2084831"/>
            <a:ext cx="365760" cy="365760"/>
          </a:xfrm>
          <a:prstGeom prst="ellipse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6760" y="212140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B3A5C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2084831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GROWTH &amp; VISIBILITY</a:t>
            </a:r>
          </a:p>
        </p:txBody>
      </p:sp>
      <p:sp>
        <p:nvSpPr>
          <p:cNvPr id="52" name="Oval 51"/>
          <p:cNvSpPr/>
          <p:nvPr/>
        </p:nvSpPr>
        <p:spPr>
          <a:xfrm>
            <a:off x="8412480" y="278892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76148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7824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Engagement strategy playbook</a:t>
            </a:r>
          </a:p>
        </p:txBody>
      </p:sp>
      <p:sp>
        <p:nvSpPr>
          <p:cNvPr id="55" name="Oval 54"/>
          <p:cNvSpPr/>
          <p:nvPr/>
        </p:nvSpPr>
        <p:spPr>
          <a:xfrm>
            <a:off x="8412480" y="342900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412480" y="340156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778240" y="3383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PR &amp; media outreach plan</a:t>
            </a:r>
          </a:p>
        </p:txBody>
      </p:sp>
      <p:sp>
        <p:nvSpPr>
          <p:cNvPr id="58" name="Oval 57"/>
          <p:cNvSpPr/>
          <p:nvPr/>
        </p:nvSpPr>
        <p:spPr>
          <a:xfrm>
            <a:off x="8412480" y="406908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404164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778240" y="4023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Speaking opportunity sourcing</a:t>
            </a:r>
          </a:p>
        </p:txBody>
      </p:sp>
      <p:sp>
        <p:nvSpPr>
          <p:cNvPr id="61" name="Oval 60"/>
          <p:cNvSpPr/>
          <p:nvPr/>
        </p:nvSpPr>
        <p:spPr>
          <a:xfrm>
            <a:off x="8412480" y="470916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468172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7824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Network expansion strategy</a:t>
            </a:r>
          </a:p>
        </p:txBody>
      </p:sp>
      <p:sp>
        <p:nvSpPr>
          <p:cNvPr id="64" name="Oval 63"/>
          <p:cNvSpPr/>
          <p:nvPr/>
        </p:nvSpPr>
        <p:spPr>
          <a:xfrm>
            <a:off x="8412480" y="5349240"/>
            <a:ext cx="256032" cy="256032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12480" y="5321808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B3A5C"/>
                </a:solidFill>
                <a:latin typeface="Montserrat"/>
              </a:defRPr>
            </a:pPr>
            <a:r>
              <a:t>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77824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Monthly analytics &amp;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2"/>
                </a:solidFill>
                <a:latin typeface="Montserrat"/>
              </a:defRPr>
            </a:pPr>
            <a:r>
              <a:t>CONTENT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Montserrat"/>
              </a:defRPr>
            </a:pPr>
            <a:r>
              <a:t>Shilen Arrow's Brand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6D0"/>
                </a:solidFill>
                <a:latin typeface="Montserrat"/>
              </a:defRPr>
            </a:pPr>
            <a:r>
              <a:t>Five strategic content pillars to establish authority and build trust in the real estate tech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103120" cy="3840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2103120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" y="2651760"/>
            <a:ext cx="731520" cy="73152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3A5C"/>
                </a:solidFill>
                <a:latin typeface="Montserrat"/>
              </a:defRPr>
            </a:pPr>
            <a:r>
              <a:t>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VISIONARY</a:t>
            </a:r>
            <a:br/>
            <a:r>
              <a:t>FOUNDER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89120"/>
            <a:ext cx="100584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AF3EB"/>
                </a:solidFill>
                <a:latin typeface="Montserrat"/>
              </a:defRPr>
            </a:pPr>
            <a:r>
              <a:t>The future of real estate</a:t>
            </a:r>
            <a:br/>
            <a:r>
              <a:t>tech and how Feesback</a:t>
            </a:r>
            <a:br/>
            <a:r>
              <a:t>is shaping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0" y="2377440"/>
            <a:ext cx="2103120" cy="3840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377440"/>
            <a:ext cx="2103120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429000" y="2651760"/>
            <a:ext cx="731520" cy="73152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2900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3A5C"/>
                </a:solidFill>
                <a:latin typeface="Montserrat"/>
              </a:defRPr>
            </a:pPr>
            <a:r>
              <a:t>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3566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INDUSTRY</a:t>
            </a:r>
            <a:br/>
            <a:r>
              <a:t>INSIDER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91840" y="4389120"/>
            <a:ext cx="100584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AF3EB"/>
                </a:solidFill>
                <a:latin typeface="Montserrat"/>
              </a:defRPr>
            </a:pPr>
            <a:r>
              <a:t>Market trends, data insights,</a:t>
            </a:r>
            <a:br/>
            <a:r>
              <a:t>and what agents &amp; buyers</a:t>
            </a:r>
            <a:br/>
            <a:r>
              <a:t>really need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2377440"/>
            <a:ext cx="2103120" cy="3840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2377440"/>
            <a:ext cx="2103120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715000" y="2651760"/>
            <a:ext cx="731520" cy="73152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3A5C"/>
                </a:solidFill>
                <a:latin typeface="Montserrat"/>
              </a:defRPr>
            </a:pPr>
            <a:r>
              <a:t>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566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BUILDER'S</a:t>
            </a:r>
            <a:br/>
            <a:r>
              <a:t>JOURNEY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77840" y="4389120"/>
            <a:ext cx="100584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6636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AF3EB"/>
                </a:solidFill>
                <a:latin typeface="Montserrat"/>
              </a:defRPr>
            </a:pPr>
            <a:r>
              <a:t>Behind-the-scenes of</a:t>
            </a:r>
            <a:br/>
            <a:r>
              <a:t>growing Feesback — wins,</a:t>
            </a:r>
            <a:br/>
            <a:r>
              <a:t>challenges, lessons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2377440"/>
            <a:ext cx="2103120" cy="3840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2377440"/>
            <a:ext cx="2103120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001000" y="2651760"/>
            <a:ext cx="731520" cy="73152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3A5C"/>
                </a:solidFill>
                <a:latin typeface="Montserrat"/>
              </a:defRPr>
            </a:pPr>
            <a:r>
              <a:t>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0" y="3566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COMMUNITY</a:t>
            </a:r>
            <a:br/>
            <a:r>
              <a:t>CHAMPION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4389120"/>
            <a:ext cx="100584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5236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AF3EB"/>
                </a:solidFill>
                <a:latin typeface="Montserrat"/>
              </a:defRPr>
            </a:pPr>
            <a:r>
              <a:t>Spotlighting agents, success</a:t>
            </a:r>
            <a:br/>
            <a:r>
              <a:t>stories, and the people</a:t>
            </a:r>
            <a:br/>
            <a:r>
              <a:t>who make real estate human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0" y="2377440"/>
            <a:ext cx="2103120" cy="384048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601200" y="2377440"/>
            <a:ext cx="2103120" cy="73152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287000" y="2651760"/>
            <a:ext cx="731520" cy="73152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287000" y="269748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1B3A5C"/>
                </a:solidFill>
                <a:latin typeface="Montserrat"/>
              </a:defRPr>
            </a:pPr>
            <a:r>
              <a:t>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84080" y="356616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THOUGHT</a:t>
            </a:r>
            <a:br/>
            <a:r>
              <a:t>LEADER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49840" y="4389120"/>
            <a:ext cx="1005840" cy="254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60" y="4572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AF3EB"/>
                </a:solidFill>
                <a:latin typeface="Montserrat"/>
              </a:defRPr>
            </a:pPr>
            <a:r>
              <a:t>Bold takes on prop-tech,</a:t>
            </a:r>
            <a:br/>
            <a:r>
              <a:t>customer experience, and</a:t>
            </a:r>
            <a:br/>
            <a:r>
              <a:t>the agent economy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90-Day Brand Launch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017520"/>
            <a:ext cx="9601200" cy="548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283464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8620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MONTH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3A5C"/>
                </a:solidFill>
                <a:latin typeface="Montserrat"/>
              </a:defRPr>
            </a:pPr>
            <a:r>
              <a:t>Foundation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474720"/>
            <a:ext cx="2743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6118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Brand audit</a:t>
            </a:r>
            <a:br/>
            <a:r>
              <a:t>Positioning</a:t>
            </a:r>
            <a:br/>
            <a:r>
              <a:t>Visual identity</a:t>
            </a:r>
            <a:br/>
            <a:r>
              <a:t>Profile optimization</a:t>
            </a:r>
            <a:br/>
            <a:r>
              <a:t>Content pillar setup</a:t>
            </a:r>
          </a:p>
        </p:txBody>
      </p:sp>
      <p:sp>
        <p:nvSpPr>
          <p:cNvPr id="14" name="Oval 13"/>
          <p:cNvSpPr/>
          <p:nvPr/>
        </p:nvSpPr>
        <p:spPr>
          <a:xfrm>
            <a:off x="6035040" y="283464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28620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MONTH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3A5C"/>
                </a:solidFill>
                <a:latin typeface="Montserrat"/>
              </a:defRPr>
            </a:pPr>
            <a:r>
              <a:t>Activation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474720"/>
            <a:ext cx="2743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36118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Content calendar launch</a:t>
            </a:r>
            <a:br/>
            <a:r>
              <a:t>LinkedIn strategy go-live</a:t>
            </a:r>
            <a:br/>
            <a:r>
              <a:t>First thought pieces</a:t>
            </a:r>
            <a:br/>
            <a:r>
              <a:t>Engagement campaign</a:t>
            </a:r>
            <a:br/>
            <a:r>
              <a:t>Video content kickoff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0" y="2834640"/>
            <a:ext cx="411480" cy="41148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286207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9202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MONTH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2402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B3A5C"/>
                </a:solidFill>
                <a:latin typeface="Montserrat"/>
              </a:defRPr>
            </a:pPr>
            <a:r>
              <a:t>Amplification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3474720"/>
            <a:ext cx="2743200" cy="2743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0" y="3611880"/>
            <a:ext cx="23774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A1A1A"/>
                </a:solidFill>
                <a:latin typeface="Montserrat"/>
              </a:defRPr>
            </a:pPr>
            <a:r>
              <a:t>PR outreach begins</a:t>
            </a:r>
            <a:br/>
            <a:r>
              <a:t>Speaking pitches sent</a:t>
            </a:r>
            <a:br/>
            <a:r>
              <a:t>Community engagement</a:t>
            </a:r>
            <a:br/>
            <a:r>
              <a:t>Performance review</a:t>
            </a:r>
            <a:br/>
            <a:r>
              <a:t>Strategy refinement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2"/>
                </a:solidFill>
                <a:latin typeface="Montserrat"/>
              </a:defRPr>
            </a:pPr>
            <a: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ontserrat"/>
              </a:defRPr>
            </a:pPr>
            <a:r>
              <a:t>Choose Your Growth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5E6D0"/>
                </a:solidFill>
                <a:latin typeface="Montserrat"/>
              </a:defRPr>
            </a:pPr>
            <a:r>
              <a:t>Two tailored packages designed for maximum brand impact and ROI.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4572000" cy="4114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4572000" cy="1097280"/>
          </a:xfrm>
          <a:prstGeom prst="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3A5C"/>
                </a:solidFill>
                <a:latin typeface="Montserrat"/>
              </a:defRPr>
            </a:pPr>
            <a:r>
              <a:t>ESSENTIAL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97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B3A5C"/>
                </a:solidFill>
                <a:latin typeface="Montserrat"/>
              </a:defRPr>
            </a:pPr>
            <a:r>
              <a:t>$1,200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Montserrat"/>
              </a:defRPr>
            </a:pPr>
            <a:r>
              <a:t>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566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Brand audit &amp; positioning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Profile optimization (LinkedIn)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Content pillar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4663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8 content pieces / month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Monthly content calendar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5394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Basic analytics report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FFFFF"/>
                </a:solidFill>
                <a:latin typeface="Montserrat"/>
              </a:defRPr>
            </a:pPr>
            <a:r>
              <a:t>→  Email support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103120"/>
            <a:ext cx="4663440" cy="4480560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2148840"/>
            <a:ext cx="4572000" cy="4389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98080" y="1920240"/>
            <a:ext cx="2286000" cy="365760"/>
          </a:xfrm>
          <a:prstGeom prst="round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B3A5C"/>
                </a:solidFill>
                <a:latin typeface="Montserrat"/>
              </a:defRPr>
            </a:pPr>
            <a:r>
              <a:t>★  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6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1B3A5C"/>
                </a:solidFill>
                <a:latin typeface="Montserrat"/>
              </a:defRPr>
            </a:pPr>
            <a:r>
              <a:t>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69748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1B3A5C"/>
                </a:solidFill>
                <a:latin typeface="Montserrat"/>
              </a:defRPr>
            </a:pPr>
            <a:r>
              <a:t>$1,500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2880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B6B6B"/>
                </a:solidFill>
                <a:latin typeface="Montserrat"/>
              </a:defRPr>
            </a:pPr>
            <a:r>
              <a:t>/ month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3566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1B3A5C"/>
                </a:solidFill>
                <a:latin typeface="Montserrat"/>
              </a:defRPr>
            </a:pPr>
            <a:r>
              <a:t>→  Everything in Essential, plus: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12 content pieces / month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2976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Video content strategy &amp; scripts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663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Thought leadership ghostwriting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50292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PR &amp; media outreach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3949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Speaking opportunity sourcing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7607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Weekly strategy calls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1264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B3A5C"/>
                </a:solidFill>
                <a:latin typeface="Montserrat"/>
              </a:defRPr>
            </a:pPr>
            <a:r>
              <a:t>→  Priority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91695" cy="36576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A90C4"/>
                </a:solidFill>
                <a:latin typeface="Montserrat"/>
              </a:defRPr>
            </a:pPr>
            <a:r>
              <a:t>WHY CHOOSE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What Sets Us Apart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011680"/>
            <a:ext cx="73152" cy="1920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22860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313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240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Real Estate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7432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We understand the real estate and prop-tech landscape inside out. Your brand strategy won't be generic — it'll speak directly to agents and home buyers.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201168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2011680"/>
            <a:ext cx="73152" cy="1920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1343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240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Founder-First Approach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74320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We don't build company brands. We build people brands. Everything is crafted around Shilen's unique voice, story, and vision.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20624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206240"/>
            <a:ext cx="73152" cy="1920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448056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079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34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Data-Driven Creative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9377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Every piece of content is backed by engagement data and audience insights. We optimize what works and pivot fast on what doesn't.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206240"/>
            <a:ext cx="5303520" cy="1920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0" y="4206240"/>
            <a:ext cx="73152" cy="192024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0" y="448056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5079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Montserrat"/>
              </a:defRPr>
            </a:pPr>
            <a: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44348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Full-Service Execution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9377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Strategy is just the start. We create, publish, engage, and report — so Shilen can focus on building Feesback while we build the brand.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2"/>
                </a:solidFill>
                <a:latin typeface="Montserrat"/>
              </a:defRPr>
            </a:pPr>
            <a:r>
              <a:t>PROJECTED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FFFFFF"/>
                </a:solidFill>
                <a:latin typeface="Montserrat"/>
              </a:defRPr>
            </a:pPr>
            <a:r>
              <a:t>What Success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22860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3017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286000"/>
            <a:ext cx="1463040" cy="146304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4688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5,000+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LinkedIn</a:t>
            </a:r>
            <a:br/>
            <a:r>
              <a:t>Followers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3EB"/>
                </a:solidFill>
                <a:latin typeface="Montserrat"/>
              </a:defRPr>
            </a:pPr>
            <a:r>
              <a:t>Targeted growth in</a:t>
            </a:r>
            <a:br/>
            <a:r>
              <a:t>90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011680"/>
            <a:ext cx="2560320" cy="3017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14800" y="2286000"/>
            <a:ext cx="1463040" cy="146304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24688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3×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Engagement</a:t>
            </a:r>
            <a:br/>
            <a:r>
              <a:t>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3EB"/>
                </a:solidFill>
                <a:latin typeface="Montserrat"/>
              </a:defRPr>
            </a:pPr>
            <a:r>
              <a:t>Above industry</a:t>
            </a:r>
            <a:br/>
            <a:r>
              <a:t>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011680"/>
            <a:ext cx="2560320" cy="3017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2286000"/>
            <a:ext cx="1463040" cy="146304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24688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15+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Media</a:t>
            </a:r>
            <a:br/>
            <a:r>
              <a:t>Mentions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3EB"/>
                </a:solidFill>
                <a:latin typeface="Montserrat"/>
              </a:defRPr>
            </a:pPr>
            <a:r>
              <a:t>PR &amp; thought</a:t>
            </a:r>
            <a:br/>
            <a:r>
              <a:t>leadership hits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2011680"/>
            <a:ext cx="2560320" cy="301752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784080" y="2286000"/>
            <a:ext cx="1463040" cy="1463040"/>
          </a:xfrm>
          <a:prstGeom prst="ellipse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46888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1B3A5C"/>
                </a:solidFill>
                <a:latin typeface="Montserrat"/>
              </a:defRPr>
            </a:pPr>
            <a:r>
              <a:t>50%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84048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Inbound</a:t>
            </a:r>
            <a:br/>
            <a: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4572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AF3EB"/>
                </a:solidFill>
                <a:latin typeface="Montserrat"/>
              </a:defRPr>
            </a:pPr>
            <a:r>
              <a:t>More organic leads</a:t>
            </a:r>
            <a:br/>
            <a:r>
              <a:t>to Feesback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394960"/>
            <a:ext cx="10698480" cy="914400"/>
          </a:xfrm>
          <a:prstGeom prst="round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5321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1B3A5C"/>
                </a:solidFill>
                <a:latin typeface="Montserrat"/>
              </a:defRPr>
            </a:pPr>
            <a:r>
              <a:t>We don't just promise results — we track, measure, and optimize every step. Monthly reports keep you informed and confident in the ROI of your brand investment.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3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9264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8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45720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1832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9264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96696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8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0" y="73152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69264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6696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8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0" y="100584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14400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1832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69264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96696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0" y="128016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9264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6696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24128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515600" y="1554480"/>
            <a:ext cx="63500" cy="63500"/>
          </a:xfrm>
          <a:prstGeom prst="ellipse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9A962"/>
                </a:solidFill>
                <a:latin typeface="Montserrat"/>
              </a:defRPr>
            </a:pPr>
            <a:r>
              <a:t>NEXT STEPS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229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Montserrat"/>
              </a:defRPr>
            </a:pPr>
            <a:r>
              <a:t>Let's Build Something</a:t>
            </a:r>
            <a:br/>
            <a:r>
              <a:t>Extraordinary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3200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3200400"/>
            <a:ext cx="3474720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" y="34747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3502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5448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Discovery Call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Let's dive deep into Shilen's vision, goals, and brand aspirations for Feesback.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80559" y="3200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59" y="3200400"/>
            <a:ext cx="3474720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663439" y="34747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39" y="3502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03519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Strategy Proposal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63439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We'll deliver a customized brand strategy and content roadmap within 5 business days.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3200400"/>
            <a:ext cx="34747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229600" y="3200400"/>
            <a:ext cx="3474720" cy="54864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12480" y="3474720"/>
            <a:ext cx="502920" cy="50292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350215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347472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B3A5C"/>
                </a:solidFill>
                <a:latin typeface="Montserrat"/>
              </a:defRPr>
            </a:pPr>
            <a:r>
              <a:t>Kick-Off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114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Once approved, we hit the ground running with brand foundation work in Week 1.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200400" y="5486400"/>
            <a:ext cx="5760720" cy="91440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00400" y="5577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Ready to elevate the Feesback brand?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200400" y="5943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5E6D0"/>
                </a:solidFill>
                <a:latin typeface="Montserrat"/>
              </a:defRPr>
            </a:pPr>
            <a:r>
              <a:t>Let's schedule a call  →  [Your Email]  |  [Your Phone]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F5E6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0292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50292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50292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25880" y="50292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502920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65760" y="53492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85800" y="53492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" y="53492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25880" y="53492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645920" y="534924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" y="566928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566928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05840" y="566928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25880" y="566928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645920" y="566928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5760" y="59893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59893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05840" y="59893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325880" y="59893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45920" y="5989320"/>
            <a:ext cx="50800" cy="50800"/>
          </a:xfrm>
          <a:prstGeom prst="ellipse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200400"/>
            <a:ext cx="914400" cy="27432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3657600"/>
            <a:ext cx="1097280" cy="2286000"/>
          </a:xfrm>
          <a:prstGeom prst="rect">
            <a:avLst/>
          </a:prstGeom>
          <a:solidFill>
            <a:srgbClr val="4A9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2926080"/>
            <a:ext cx="731520" cy="3017520"/>
          </a:xfrm>
          <a:prstGeom prst="rect">
            <a:avLst/>
          </a:prstGeom>
          <a:solidFill>
            <a:srgbClr val="D4C5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7280" y="338328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63040" y="338328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393192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463040" y="393192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97280" y="448056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463040" y="448056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97280" y="502920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463040" y="5029200"/>
            <a:ext cx="182880" cy="274320"/>
          </a:xfrm>
          <a:prstGeom prst="rect">
            <a:avLst/>
          </a:prstGeom>
          <a:solidFill>
            <a:srgbClr val="F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0" y="384048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51760" y="384048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86000" y="438912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51760" y="438912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86000" y="493776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51760" y="4937760"/>
            <a:ext cx="18288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669280" y="1828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759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0" y="2560320"/>
            <a:ext cx="1828800" cy="381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0" y="292608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5E6D0"/>
                </a:solidFill>
                <a:latin typeface="Montserrat"/>
              </a:defRPr>
            </a:pPr>
            <a:r>
              <a:t>We're excited about the opportunity to build</a:t>
            </a:r>
            <a:br/>
            <a:r>
              <a:t>Shilen Arrow's personal brand and drive</a:t>
            </a:r>
            <a:br/>
            <a:r>
              <a:t>Feesback's growth through strategic branding.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6B6B6B"/>
                </a:solidFill>
                <a:latin typeface="Montserrat"/>
              </a:defRPr>
            </a:pPr>
            <a:r>
              <a:t>Prepared exclusively for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0" y="47548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Montserrat"/>
              </a:defRPr>
            </a:pPr>
            <a:r>
              <a:t>SHILEN ARROW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A962"/>
                </a:solidFill>
                <a:latin typeface="Montserrat"/>
              </a:defRPr>
            </a:pPr>
            <a:r>
              <a:t>Founder, Feesback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C9A9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1B3A5C"/>
                </a:solidFill>
                <a:latin typeface="Montserrat"/>
              </a:defRPr>
            </a:pPr>
            <a:r>
              <a:t>Confidential  |  Prepared with ♦ for Feesback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